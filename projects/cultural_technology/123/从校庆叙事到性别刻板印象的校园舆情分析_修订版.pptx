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5.svg" ContentType="image/svg+xml"/>
  <Override PartName="/ppt/media/image37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2.svg" ContentType="image/svg+xml"/>
  <Override PartName="/ppt/media/image6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老师好，大家好。今天我分享的案例，就发生在咱们学校——交大130周年校庆期间，一支校友拍的微电影因为一句台词，闹得水源和小红书全炸了。表面看只是个小争议，往深里看，它其实是个很典型的校园文化传播事件：一句话怎么触发性别刻板印象，又怎么被平台不断放大，最后变成全校公共话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没看过的人先记住这句台词就够了：男生从电竞打到敲代码，女生从舞蹈社直接当宝妈。学校本来想展示多元路径，结果很多人觉得这是在暗示‘男生搞事业，女生最后回归家庭’。争议就从这里开始，在水源和小红书越吵越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选这个案例，是因为它太适合这门课了。校庆本来是正面宣传，结果一句台词直接把话题拉到性别刻板印象上。这不光是作品问题，更是传播问题、身份问题，也是平台问题——特别能体现文化内容在科技环境下会怎么被重新解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件事被放大，和当下校庆大背景分不开。官网全是130周年专题，校友返校日、调课通知一堆，学校本身就在强推正面叙事。微电影又是学校一直鼓励的校园文化产品，所以大家自然会把它当成‘学校在说话’，一句台词不对味，就容易被当成官方态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真正让大家炸毛的，不是‘宝妈’这个词，而是它和‘舞蹈社女生’直接对应，好像女生社团经历的终点就是当妈。男生却是电竞到代码，一路职业上升。这个对比太明显了，很多同学觉得这不是幽默，是把老一套性别分工又搬出来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争议没停在台词上。水源里大家更冷静地在讨论学校为什么这么写，小红书直接把情绪复制、放大。结果大家争的已经不是作品好坏，而是学校到底用什么眼光看学生。话题彻底变了。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平台作用太关键了。同样一句台词，在水源是辩论，在小红书就成了情绪炸锅。平台不是单纯传话筒，它会重新包装内容，让同一件事在不同地方长出不同面孔。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为什么会被读成性别对立？因为它把很传统的分工逻辑又说了一遍：男生技术上升，女生家庭收束。这个对应太容易戳到身份认同了。学校想讲‘多元’，结果学生读出来的是‘刻板’，冲突就这么产生了。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这门课的角度看，这件事最有启发的地方在于：文化内容一旦上了平台，就不再是单纯创作，而是传播与解读的博弈。借用传播学里的编码-解码理论，学校想编码一个正面校庆故事，学生却解码出了刻板印象。这提醒我们，校园传播得把受众感受和平台逻辑一起考虑进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一下，这件事不是一句台词的小翻车，而是一个完整的链式事件：校庆叙事先出现，刻板印象被触发，平台再一放大，就成了校园舆情。它告诉我们，校园传播不光要会‘说’，更要懂得‘会被怎么听’。谢谢大家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3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7.sv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svg"/><Relationship Id="rId8" Type="http://schemas.openxmlformats.org/officeDocument/2006/relationships/image" Target="../media/image36.png"/><Relationship Id="rId7" Type="http://schemas.openxmlformats.org/officeDocument/2006/relationships/image" Target="../media/image35.svg"/><Relationship Id="rId6" Type="http://schemas.openxmlformats.org/officeDocument/2006/relationships/image" Target="../media/image34.png"/><Relationship Id="rId5" Type="http://schemas.openxmlformats.org/officeDocument/2006/relationships/image" Target="../media/image11.svg"/><Relationship Id="rId4" Type="http://schemas.openxmlformats.org/officeDocument/2006/relationships/image" Target="../media/image33.png"/><Relationship Id="rId3" Type="http://schemas.openxmlformats.org/officeDocument/2006/relationships/image" Target="../media/image9.svg"/><Relationship Id="rId2" Type="http://schemas.openxmlformats.org/officeDocument/2006/relationships/image" Target="../media/image3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image" Target="../media/image50.jpeg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49.svg"/><Relationship Id="rId15" Type="http://schemas.openxmlformats.org/officeDocument/2006/relationships/image" Target="../media/image48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7.sv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33.png"/><Relationship Id="rId7" Type="http://schemas.openxmlformats.org/officeDocument/2006/relationships/image" Target="../media/image57.svg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9.svg"/><Relationship Id="rId10" Type="http://schemas.openxmlformats.org/officeDocument/2006/relationships/image" Target="../media/image58.png"/><Relationship Id="rId1" Type="http://schemas.openxmlformats.org/officeDocument/2006/relationships/image" Target="../media/image5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image" Target="../media/image6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4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F4F4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651000"/>
            <a:ext cx="1092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从校庆叙事到性别刻板印象：一句台词如何在平台放大中变成校园舆情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C8E6C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文化与科技概论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82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报告人：李木子|  文化产业管理专业  |  2026.4.29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1143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校庆微电影风波：这件事到底在吵什么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2F4F4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2225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暴雷的一句台词：</a:t>
            </a:r>
            <a:endParaRPr lang="en-US" sz="1100"/>
          </a:p>
          <a:p>
            <a:pPr indent="0" algn="l">
              <a:lnSpc>
                <a:spcPct val="117000"/>
              </a:lnSpc>
            </a:pPr>
            <a:br>
              <a:rPr lang="en-US" sz="2200" b="1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“电竞大神敲上了代码，</a:t>
            </a:r>
            <a:br>
              <a:rPr lang="en-US" sz="2200" b="1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舞台c位变成了宝妈”</a:t>
            </a:r>
            <a:endParaRPr lang="en-US" sz="2200" b="1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165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04000" y="1600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舆情起因：</a:t>
            </a:r>
            <a:r>
              <a:rPr lang="en-US" altLang="zh-CN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130</a:t>
            </a:r>
            <a:r>
              <a:rPr lang="zh-CN" alt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周年校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庆微电影一句台词引发热议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241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04000" y="2362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核心争议：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台词是否强化了性别刻板印象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317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604000" y="3124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讨论阵地：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rcRect l="6729" r="5263" b="1639"/>
          <a:stretch>
            <a:fillRect/>
          </a:stretch>
        </p:blipFill>
        <p:spPr>
          <a:xfrm>
            <a:off x="6604000" y="3587750"/>
            <a:ext cx="762000" cy="762000"/>
          </a:xfrm>
          <a:prstGeom prst="roundRect">
            <a:avLst>
              <a:gd name="adj" fmla="val 3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604000" y="44450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水源社区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620000" y="3619500"/>
            <a:ext cx="762000" cy="762000"/>
          </a:xfrm>
          <a:prstGeom prst="roundRect">
            <a:avLst>
              <a:gd name="adj" fmla="val 3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620000" y="44450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小红书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842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F4F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为什么这个案例值得讲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51000" y="2032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89000" y="368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舆情反转</a:t>
            </a:r>
            <a:endParaRPr lang="en-US" sz="1800" b="1" i="0" u="none" strike="noStrike">
              <a:solidFill>
                <a:srgbClr val="2F4F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defRPr/>
            </a:pP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校庆正面叙事却翻车成负面舆情，传播效果与初衷背离</a:t>
            </a:r>
            <a:endParaRPr lang="en-US" sz="14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45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4000" y="2032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572000" y="368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课程契合</a:t>
            </a:r>
            <a:endParaRPr lang="en-US" sz="1100"/>
          </a:p>
          <a:p>
            <a:pPr indent="0" algn="ctr">
              <a:lnSpc>
                <a:spcPct val="108000"/>
              </a:lnSpc>
            </a:pPr>
            <a:endParaRPr lang="en-US" sz="14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校园文化+平台传播+舆论放大</a:t>
            </a:r>
            <a:endParaRPr lang="en-US" sz="14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28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17000" y="2032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255000" y="368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感受错位</a:t>
            </a:r>
            <a:endParaRPr lang="en-US" sz="1800" b="1" i="0" u="none" strike="noStrike">
              <a:solidFill>
                <a:srgbClr val="2F4F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defRPr/>
            </a:pP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暴露官方预设内容与学生真实情感体验之间的巨大落差</a:t>
            </a:r>
            <a:endParaRPr lang="en-US" sz="14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背景：校庆微电影为什么这么敏感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540000" cy="2540000"/>
          </a:xfrm>
          <a:prstGeom prst="roundRect">
            <a:avLst>
              <a:gd name="adj" fmla="val 5000"/>
            </a:avLst>
          </a:prstGeom>
          <a:solidFill>
            <a:srgbClr val="2F4F4F">
              <a:alpha val="10000"/>
            </a:srgbClr>
          </a:solidFill>
          <a:ln cap="flat" cmpd="sng">
            <a:solidFill>
              <a:srgbClr val="1A363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9000" y="1778000"/>
            <a:ext cx="22860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101600" dir="2700000" algn="tl" rotWithShape="0">
              <a:srgbClr val="2F4F4F">
                <a:alpha val="2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31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上海交通大学130周年校庆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0" y="16510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0" y="184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699000" y="1778000"/>
            <a:ext cx="647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本身就是重要</a:t>
            </a: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宣传周期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交大正处于130周年校庆的关键宣传节点，关注度空前高涨。</a:t>
            </a:r>
            <a:endParaRPr lang="en-US" sz="14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10000" y="27305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4000" y="2921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2857500"/>
            <a:ext cx="647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信息密集上线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官网专题网、校友返校日活动及各类校庆通知集中发布，信息密度大。</a:t>
            </a:r>
            <a:endParaRPr lang="en-US" sz="14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810000" y="38100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4000" y="4000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99000" y="3937000"/>
            <a:ext cx="647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校园文化鼓励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学校长期鼓励微电影等校园叙事作品，此类创作具有官方认可的底色。</a:t>
            </a:r>
            <a:endParaRPr lang="en-US" sz="14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810000" y="48895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4000" y="508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699000" y="5016500"/>
            <a:ext cx="647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形象</a:t>
            </a:r>
            <a:r>
              <a:rPr lang="zh-CN" alt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sz="18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放大镜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zh-CN" alt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</a:t>
            </a:r>
            <a:r>
              <a:rPr lang="en-US" sz="14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时期，被视为“代表学校形象”的内容会被公众天然放大审视。</a:t>
            </a:r>
            <a:endParaRPr lang="en-US" sz="14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争议核心：一句台词为什么会被骂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953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905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159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男生：职业上升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159000" y="2413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电竞社团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转专业学习代码</a:t>
            </a:r>
            <a:endParaRPr lang="en-US" sz="16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实现职业成功与晋升</a:t>
            </a:r>
            <a:endParaRPr lang="en-US" sz="16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651000"/>
            <a:ext cx="4953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31000" y="1905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874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F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女生：回归家庭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74000" y="2413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舞蹈社团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经历婚育阶段</a:t>
            </a:r>
            <a:endParaRPr lang="en-US" sz="16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最终成为全职宝妈</a:t>
            </a:r>
            <a:endParaRPr lang="en-US" sz="1600" b="0" i="0" u="none" strike="noStrike">
              <a:solidFill>
                <a:srgbClr val="3645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F4F4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826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775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问题本质：把性别“模板化”，忽视多元发展可能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（产生刻板印象）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34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283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潜在暗示：默认男生应追求事业前途，而女生无论起点如何，终将回归家庭角色？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舆论为什么会分化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778000"/>
            <a:ext cx="1778000" cy="1778000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F4F4F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3048000" y="1651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937000" y="1803400"/>
            <a:ext cx="723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水源社区：</a:t>
            </a:r>
            <a:endParaRPr lang="en-US" sz="1100"/>
          </a:p>
          <a:p>
            <a:r>
              <a:t>主流有两类反应：一类认为校方没有做错；一类认为校方有问题，但反对</a:t>
            </a:r>
            <a:r>
              <a:rPr lang="zh-CN"/>
              <a:t>小</a:t>
            </a:r>
            <a:r>
              <a:t>红书</a:t>
            </a:r>
            <a:r>
              <a:rPr lang="zh-CN"/>
              <a:t>性别议题</a:t>
            </a:r>
            <a:endParaRPr lang="zh-CN"/>
          </a:p>
        </p:txBody>
      </p:sp>
      <p:sp>
        <p:nvSpPr>
          <p:cNvPr id="7" name="AutoShape 7"/>
          <p:cNvSpPr/>
          <p:nvPr/>
        </p:nvSpPr>
        <p:spPr>
          <a:xfrm>
            <a:off x="3048000" y="2667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0" y="2857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937000" y="2819400"/>
            <a:ext cx="723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边界感：</a:t>
            </a:r>
            <a:endParaRPr lang="en-US" sz="1100"/>
          </a:p>
          <a:p>
            <a:r>
              <a:t>不少人强调非交大外部用户不一定理解校内语境，讨论里出现了“谁更有资格评论”的</a:t>
            </a:r>
            <a:r>
              <a:rPr lang="zh-CN"/>
              <a:t>话题</a:t>
            </a:r>
            <a:endParaRPr lang="zh-CN"/>
          </a:p>
        </p:txBody>
      </p:sp>
      <p:sp>
        <p:nvSpPr>
          <p:cNvPr id="10" name="AutoShape 10"/>
          <p:cNvSpPr/>
          <p:nvPr/>
        </p:nvSpPr>
        <p:spPr>
          <a:xfrm>
            <a:off x="3048000" y="3683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0" y="387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37000" y="3835400"/>
            <a:ext cx="723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议题升级：</a:t>
            </a:r>
            <a:endParaRPr lang="en-US" sz="1100"/>
          </a:p>
          <a:p>
            <a:r>
              <a:t>焦点从台词本身转向“谁在解释这件事”</a:t>
            </a:r>
            <a:r>
              <a:rPr lang="zh-CN">
                <a:ea typeface="SimSun" panose="02010600030101010101" pitchFamily="2" charset="-122"/>
              </a:rPr>
              <a:t>、甚至上升至对交大本身的</a:t>
            </a:r>
            <a:r>
              <a:rPr lang="zh-CN">
                <a:ea typeface="SimSun" panose="02010600030101010101" pitchFamily="2" charset="-122"/>
              </a:rPr>
              <a:t>攻击</a:t>
            </a:r>
            <a:endParaRPr lang="zh-CN">
              <a:ea typeface="SimSun" panose="02010600030101010101" pitchFamily="2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048000" y="4699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02000" y="4889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37000" y="4851400"/>
            <a:ext cx="723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性质变化：</a:t>
            </a:r>
            <a:endParaRPr lang="en-US" sz="1100"/>
          </a:p>
          <a:p>
            <a:r>
              <a:t>从作品争议变成校内共同体与外部平台的拉扯</a:t>
            </a:r>
            <a:r>
              <a:rPr lang="zh-CN">
                <a:ea typeface="SimSun" panose="02010600030101010101" pitchFamily="2" charset="-122"/>
              </a:rPr>
              <a:t>、成为</a:t>
            </a:r>
            <a:r>
              <a:rPr lang="zh-CN">
                <a:ea typeface="SimSun" panose="02010600030101010101" pitchFamily="2" charset="-122"/>
              </a:rPr>
              <a:t>公共议题</a:t>
            </a:r>
            <a:endParaRPr lang="zh-CN">
              <a:ea typeface="SimSun" panose="02010600030101010101" pitchFamily="2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平台如何把争议放大：水源、微博与小红书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778000"/>
            <a:ext cx="1270000" cy="1270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540000" y="177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水源社区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400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t>• 强调校内语境</a:t>
            </a:r>
            <a:endParaRPr lang="en-US" sz="1100"/>
          </a:p>
          <a:p>
            <a:r>
              <a:t>• 更像共同体内部辩论</a:t>
            </a:r>
          </a:p>
          <a:p>
            <a:r>
              <a:t>• 关注“学校到底有没有做错”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04000" y="1778000"/>
            <a:ext cx="1270000" cy="1270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128000" y="177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微博 / 小红书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t>• 微博：扩散快、转述多、容易公共化</a:t>
            </a:r>
            <a:endParaRPr lang="en-US" sz="1100"/>
          </a:p>
          <a:p>
            <a:r>
              <a:t>• 小红书：情绪共鸣强、经验叙述多、容易站队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1755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F4F4F">
              <a:alpha val="5000"/>
            </a:srgbClr>
          </a:solidFill>
          <a:ln w="12700" cap="flat" cmpd="sng">
            <a:solidFill>
              <a:srgbClr val="2F4F4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5016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953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平台机制强化“站队”</a:t>
            </a:r>
            <a:endParaRPr lang="en-US" sz="1100"/>
          </a:p>
          <a:p>
            <a:r>
              <a:t>同一事实</a:t>
            </a:r>
            <a:r>
              <a:rPr lang="zh-CN"/>
              <a:t>发散</a:t>
            </a:r>
            <a:r>
              <a:t>为：校内辩论 / 公共围观 / </a:t>
            </a:r>
            <a:r>
              <a:rPr lang="zh-CN">
                <a:sym typeface="+mn-ea"/>
              </a:rPr>
              <a:t>性别议题</a:t>
            </a:r>
            <a:endParaRPr lang="zh-CN">
              <a:sym typeface="+mn-ea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5016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4953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同一句话，不同“事件”</a:t>
            </a:r>
            <a:endParaRPr lang="en-US" sz="1100"/>
          </a:p>
          <a:p>
            <a:r>
              <a:t>不同平台会把同一件事讲成不同的故事。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9055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分析：从内容争议到解释权之争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6400" y="18415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889000" y="2603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t>起点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889000" y="3048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t>一句带性别分工意味的台词，触动了很多人的敏感点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34925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06900" y="18415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3619500" y="2603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t>转折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3619500" y="3048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t>争议从“是否冒犯”转向“谁更有资格定义校庆内容”</a:t>
            </a:r>
            <a:r>
              <a:rPr lang="zh-CN">
                <a:ea typeface="SimSun" panose="02010600030101010101" pitchFamily="2" charset="-122"/>
              </a:rPr>
              <a:t>、</a:t>
            </a:r>
            <a:r>
              <a:rPr lang="en-US" altLang="zh-CN">
                <a:ea typeface="SimSun" panose="02010600030101010101" pitchFamily="2" charset="-122"/>
              </a:rPr>
              <a:t>“</a:t>
            </a:r>
            <a:r>
              <a:rPr lang="zh-CN" altLang="en-US">
                <a:ea typeface="SimSun" panose="02010600030101010101" pitchFamily="2" charset="-122"/>
              </a:rPr>
              <a:t>质疑交大本身</a:t>
            </a:r>
            <a:r>
              <a:rPr lang="en-US" altLang="zh-CN">
                <a:ea typeface="SimSun" panose="02010600030101010101" pitchFamily="2" charset="-122"/>
              </a:rPr>
              <a:t>”</a:t>
            </a:r>
            <a:endParaRPr lang="en-US" altLang="zh-CN" sz="1100">
              <a:ea typeface="SimSun" panose="02010600030101010101" pitchFamily="2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62230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37400" y="1841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7"/>
            </p:custDataLst>
          </p:nvPr>
        </p:nvSpPr>
        <p:spPr>
          <a:xfrm>
            <a:off x="6350000" y="2603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t>结果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6350000" y="3048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t>讨论里出现“校内 / 校外”“理解 / 误读”“支持 / 反对”的边界划分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9535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 l="12121" r="12121" b="24242"/>
          <a:stretch>
            <a:fillRect/>
          </a:stretch>
        </p:blipFill>
        <p:spPr>
          <a:xfrm>
            <a:off x="9810750" y="1841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22"/>
            </p:custDataLst>
          </p:nvPr>
        </p:nvSpPr>
        <p:spPr>
          <a:xfrm>
            <a:off x="9080500" y="2603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t>本质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3"/>
            </p:custDataLst>
          </p:nvPr>
        </p:nvSpPr>
        <p:spPr>
          <a:xfrm>
            <a:off x="9080500" y="3048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t>平台把内容争议变成社群身份与解释权的竞争，性别议题是被激活的重要层面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953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t>结论：学校想呈现的是校庆叙事，但在学生与平台语境里，被解读成了关于性别、身份和权力的冲突。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传播学视角：框架、编码-解码与沉默的螺旋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651000"/>
            <a:ext cx="2032000" cy="20320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2F4F4F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3733800" y="1600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校园内容也是文化生产，不是简单的信息发布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0" y="215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733800" y="2108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平台会改变文化内容的意义：微博、论坛、小红书会放大不同维度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0" y="2667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733800" y="2616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同一内容在不同语境中会被不同方式理解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02000" y="317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733800" y="3124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编码-解码：</a:t>
            </a:r>
            <a:endParaRPr lang="en-US" sz="1100"/>
          </a:p>
          <a:p>
            <a:r>
              <a:t>官方想编码成“校庆叙事”，受众可能解码成“刻板印象”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302000" y="3810000"/>
            <a:ext cx="8128000" cy="1524000"/>
          </a:xfrm>
          <a:prstGeom prst="roundRect">
            <a:avLst>
              <a:gd name="adj" fmla="val 8333"/>
            </a:avLst>
          </a:prstGeom>
          <a:solidFill>
            <a:srgbClr val="2F4F4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56000" y="4064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89400" y="4038600"/>
            <a:ext cx="698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群体极化：</a:t>
            </a:r>
            <a:endParaRPr lang="en-US" sz="1100"/>
          </a:p>
          <a:p>
            <a:r>
              <a:t>相近立场会彼此强化，温和意见更容易被边缘化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556000" y="4572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t>学校编码的正面叙事，学生可能解码出完全不同的刻板印象。</a:t>
            </a:r>
            <a:endParaRPr lang="en-US" sz="1100"/>
          </a:p>
          <a:p>
            <a:endParaRPr sz="1100"/>
          </a:p>
          <a:p>
            <a:r>
              <a:rPr lang="en-US"/>
              <a:t>“</a:t>
            </a:r>
            <a:r>
              <a:t>文化工作者一定要有文化！</a:t>
            </a:r>
            <a:r>
              <a:rPr lang="en-US"/>
              <a:t>”</a:t>
            </a:r>
            <a:r>
              <a:t>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461000" y="381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t>结论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952500"/>
            <a:ext cx="508000" cy="50800"/>
          </a:xfrm>
          <a:prstGeom prst="roundRect">
            <a:avLst>
              <a:gd name="adj" fmla="val 0"/>
            </a:avLst>
          </a:prstGeom>
          <a:solidFill>
            <a:srgbClr val="2F4F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270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1511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1524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不是“台词的小翻车”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286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527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2540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“校庆叙事 → 校内争议 → 平台外溢 → 解释权竞争”</a:t>
            </a:r>
            <a:endParaRPr lang="en-US" sz="1100" b="1"/>
          </a:p>
        </p:txBody>
      </p:sp>
      <p:sp>
        <p:nvSpPr>
          <p:cNvPr id="12" name="AutoShape 12"/>
          <p:cNvSpPr/>
          <p:nvPr/>
        </p:nvSpPr>
        <p:spPr>
          <a:xfrm>
            <a:off x="1016000" y="3302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3543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3556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t>启示：校园传播既要考虑表达内容，也要考虑受众结构、平台和校内外边界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559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572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/>
              <a:t>应该非常</a:t>
            </a:r>
            <a:r>
              <a:rPr lang="zh-CN"/>
              <a:t>非常仔细和审慎的考虑</a:t>
            </a:r>
            <a:r>
              <a:t>“不同群体会如何理解、转述和放大”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t>谢谢大家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WPS 演示</Application>
  <PresentationFormat/>
  <Paragraphs>152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</vt:lpstr>
      <vt:lpstr>Noto Sans SC</vt:lpstr>
      <vt:lpstr>Microsoft YaHei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李木子</cp:lastModifiedBy>
  <cp:revision>1</cp:revision>
  <dcterms:created xsi:type="dcterms:W3CDTF">2026-04-01T12:19:01Z</dcterms:created>
  <dcterms:modified xsi:type="dcterms:W3CDTF">2026-04-01T12:19:01Z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0AE8DF191CDBC6F4B7DECB691168DE1F_42</vt:lpwstr>
  </property>
  <property fmtid="{D5CDD505-2E9C-101B-9397-08002B2CF9AE}" pid="3" name="KSOProductBuildVer">
    <vt:lpwstr>2052-12.1.0.25225</vt:lpwstr>
  </property>
</Properties>
</file>