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2.svg" ContentType="image/svg+xml"/>
  <Override PartName="/ppt/media/image6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老师好，大家好。今天我分享的案例，就发生在咱们学校——交大130周年校庆期间，一支校友拍的微电影因为一句台词，闹得水源和小红书全炸了。表面看只是个小争议，往深里看，它其实是个很典型的校园文化传播事件：一句话怎么触发性别刻板印象，又怎么被平台不断放大，最后变成全校公共话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没看过的人先记住这句台词就够了：男生从电竞打到敲代码，女生从舞蹈社直接当宝妈。学校本来想展示多元路径，结果很多人觉得这是在暗示‘男生搞事业，女生最后回归家庭’。争议就从这里开始，在水源和小红书越吵越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选这个案例，是因为它太适合这门课了。校庆本来是正面宣传，结果一句台词直接把话题拉到性别刻板印象上。这不光是作品问题，更是传播问题、身份问题，也是平台问题——特别能体现文化内容在科技环境下会怎么被重新解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件事被放大，和当下校庆大背景分不开。官网全是130周年专题，校友返校日、调课通知一堆，学校本身就在强推正面叙事。微电影又是学校一直鼓励的校园文化产品，所以大家自然会把它当成‘学校在说话’，一句台词不对味，就容易被当成官方态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真正让大家炸毛的，不是‘宝妈’这个词，而是它和‘舞蹈社女生’直接对应，好像女生社团经历的终点就是当妈。男生却是电竞到代码，一路职业上升。这个对比太明显了，很多同学觉得这不是幽默，是把老一套性别分工又搬出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争议没停在台词上。水源里大家更冷静地在讨论学校为什么这么写，小红书直接把情绪复制、放大。结果大家争的已经不是作品好坏，而是学校到底用什么眼光看学生。话题彻底变了。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平台作用太关键了。同样一句台词，在水源是辩论，在小红书就成了情绪炸锅。平台不是单纯传话筒，它会重新包装内容，让同一件事在不同地方长出不同面孔。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为什么会被读成性别对立？因为它把很传统的分工逻辑又说了一遍：男生技术上升，女生家庭收束。这个对应太容易戳到身份认同了。学校想讲‘多元’，结果学生读出来的是‘刻板’，冲突就这么产生了。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这门课的角度看，这件事最有启发的地方在于：文化内容一旦上了平台，就不再是单纯创作，而是传播与解读的博弈。借用传播学里的编码-解码理论，学校想编码一个正面校庆故事，学生却解码出了刻板印象。这提醒我们，校园传播得把受众感受和平台逻辑一起考虑进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，这件事不是一句台词的小翻车，而是一个完整的链式事件：校庆叙事先出现，刻板印象被触发，平台再一放大，就成了校园舆情。它告诉我们，校园传播不光要会‘说’，更要懂得‘会被怎么听’。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7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11.svg"/><Relationship Id="rId4" Type="http://schemas.openxmlformats.org/officeDocument/2006/relationships/image" Target="../media/image33.png"/><Relationship Id="rId3" Type="http://schemas.openxmlformats.org/officeDocument/2006/relationships/image" Target="../media/image9.svg"/><Relationship Id="rId2" Type="http://schemas.openxmlformats.org/officeDocument/2006/relationships/image" Target="../media/image32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jpe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33.png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9.svg"/><Relationship Id="rId10" Type="http://schemas.openxmlformats.org/officeDocument/2006/relationships/image" Target="../media/image58.png"/><Relationship Id="rId1" Type="http://schemas.openxmlformats.org/officeDocument/2006/relationships/image" Target="../media/image5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4F4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F4F4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1092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从校庆叙事到性别刻板印象：一句台词如何在平台放大中变成校园舆情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C8E6C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文化与科技概论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报告人：李木子|  文化产业管理专业  |  2026.4.29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0" y="1143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校庆微电影风波：这件事到底在吵什么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2F4F4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2225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暴雷的一句台词：</a:t>
            </a:r>
            <a:endParaRPr lang="en-US" sz="1100"/>
          </a:p>
          <a:p>
            <a:pPr indent="0" algn="l">
              <a:lnSpc>
                <a:spcPct val="117000"/>
              </a:lnSpc>
            </a:pPr>
            <a:b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“电竞大神敲上了代码，</a:t>
            </a:r>
            <a:b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2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舞台c位变成了宝妈”</a:t>
            </a:r>
            <a:endParaRPr lang="en-US" sz="2200" b="1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604000" y="1600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舆情起因：</a:t>
            </a:r>
            <a:r>
              <a:rPr lang="en-US" altLang="zh-CN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130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周年校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庆微电影一句台词引发热议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241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2362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核心争议：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台词是否强化了性别刻板印象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0" y="317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04000" y="3124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讨论阵地：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rcRect l="6729" r="5263" b="1639"/>
          <a:stretch>
            <a:fillRect/>
          </a:stretch>
        </p:blipFill>
        <p:spPr>
          <a:xfrm>
            <a:off x="6604000" y="3587750"/>
            <a:ext cx="762000" cy="762000"/>
          </a:xfrm>
          <a:prstGeom prst="roundRect">
            <a:avLst>
              <a:gd name="adj" fmla="val 3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6040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水源社区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0" y="3619500"/>
            <a:ext cx="762000" cy="762000"/>
          </a:xfrm>
          <a:prstGeom prst="roundRect">
            <a:avLst>
              <a:gd name="adj" fmla="val 33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620000" y="4445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842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为什么这个案例值得讲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51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89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舆情反转</a:t>
            </a:r>
            <a:endParaRPr lang="en-US" sz="1800" b="1" i="0" u="none" strike="noStrike">
              <a:solidFill>
                <a:srgbClr val="2F4F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8000"/>
              </a:lnSpc>
              <a:defRPr/>
            </a:pP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校庆正面叙事却翻车成负面舆情，传播效果与初衷背离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34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4572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课程契合</a:t>
            </a:r>
            <a:endParaRPr lang="en-US" sz="1100"/>
          </a:p>
          <a:p>
            <a:pPr indent="0" algn="ctr">
              <a:lnSpc>
                <a:spcPct val="108000"/>
              </a:lnSpc>
            </a:pP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校园文化+平台传播+舆论放大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17000" y="2032000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255000" y="3683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感受错位</a:t>
            </a:r>
            <a:endParaRPr lang="en-US" sz="1800" b="1" i="0" u="none" strike="noStrike">
              <a:solidFill>
                <a:srgbClr val="2F4F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8000"/>
              </a:lnSpc>
              <a:defRPr/>
            </a:pP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暴露官方预设内容与学生真实情感体验之间的巨大落差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背景：校庆微电影为什么这么敏感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2F4F4F">
              <a:alpha val="10000"/>
            </a:srgbClr>
          </a:solidFill>
          <a:ln cap="flat" cmpd="sng">
            <a:solidFill>
              <a:srgbClr val="1A363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9000" y="1778000"/>
            <a:ext cx="2286000" cy="2286000"/>
          </a:xfrm>
          <a:prstGeom prst="roundRect">
            <a:avLst>
              <a:gd name="adj" fmla="val 555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101600" dir="2700000" algn="tl" rotWithShape="0">
              <a:srgbClr val="2F4F4F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上海交通大学130周年校庆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0" y="1651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4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99000" y="17780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本身就是重要</a:t>
            </a: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宣传周期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交大正处于130周年校庆的关键宣传节点，关注度空前高涨。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10000" y="2730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292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28575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信息密集上线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官网专题网、校友返校日活动及各类校庆通知集中发布，信息密度大。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810000" y="38100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4000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99000" y="39370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校园文化鼓励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学校长期鼓励微电影等校园叙事作品，此类创作具有官方认可的底色。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0" y="4889500"/>
            <a:ext cx="76200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4000" y="508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99000" y="5016500"/>
            <a:ext cx="647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形象</a:t>
            </a:r>
            <a:r>
              <a:rPr lang="zh-CN" alt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放大镜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zh-CN" alt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这一</a:t>
            </a: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时期，被视为“代表学校形象”的内容会被公众天然放大审视。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争议核心：一句台词为什么会被骂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159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男生：职业上升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2413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电竞社团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转专业学习代码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实现职业成功与晋升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477000" y="1651000"/>
            <a:ext cx="4953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310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874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女生：回归家庭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74000" y="2413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舞蹈社团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经历婚育阶段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↓ 最终成为全职宝妈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82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775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问题本质：把性别“模板化”，忽视多元发展可能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（产生刻板印象）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2832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潜在暗示：默认男生应追求事业前途，而女生无论起点如何，终将回归家庭角色？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舆论为什么会持续发酵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778000"/>
            <a:ext cx="1778000" cy="1778000"/>
          </a:xfrm>
          <a:prstGeom prst="roundRect">
            <a:avLst>
              <a:gd name="adj" fmla="val 1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F4F4F">
                <a:alpha val="1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3048000" y="1651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937000" y="1803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水源社区：</a:t>
            </a:r>
            <a:r>
              <a:rPr lang="zh-CN" altLang="en-US" sz="1600">
                <a:solidFill>
                  <a:srgbClr val="36454F"/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讨论</a:t>
            </a:r>
            <a:r>
              <a:rPr lang="en-US" sz="1600">
                <a:solidFill>
                  <a:srgbClr val="36454F"/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学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校表达是否失当，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后期出现进一步分歧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048000" y="2667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285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937000" y="2819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小红书传播：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情绪共鸣引发快速扩散，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发出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群体声音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48000" y="3683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387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3835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话题升级：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焦点从“台词本身”转移到“学校究竟如何看待学生”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48000" y="4699000"/>
            <a:ext cx="838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2F4F4F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37000" y="4851400"/>
            <a:ext cx="723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性质转变：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超出单条作品范畴，演变为学校的整体形象问题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平台如何把争议放大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778000"/>
            <a:ext cx="1270000" cy="1270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540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论坛平台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40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辩论为主导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观点碰撞，立场对立明显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双方展开激烈争议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0" y="1778000"/>
            <a:ext cx="1270000" cy="1270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128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小红书平台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8000" y="2286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情绪表达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情感共鸣引发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广泛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传播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• 观点易被极端化解读</a:t>
            </a:r>
            <a:endParaRPr lang="en-US" sz="16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2F4F4F">
              <a:alpha val="5000"/>
            </a:srgbClr>
          </a:solidFill>
          <a:ln w="12700" cap="flat" cmpd="sng">
            <a:solidFill>
              <a:srgbClr val="2F4F4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501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953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平台机制强化“站队”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算法推荐机制容易过滤异见，形成信息茧房，加剧群体对立。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5016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4953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同一句话，不同“事件”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平台重新包装内容，让同一事实呈现不同的面貌。</a:t>
            </a:r>
            <a:endParaRPr lang="en-US" sz="1400" b="0" i="0" u="none" strike="noStrike">
              <a:solidFill>
                <a:srgbClr val="36454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055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分析：这件事为什么被读成“性别对立”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1841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起点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一句带性别分工的台词，触动了传统认知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1841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195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转折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争议焦点从“是否冒犯”升级为“谁在代表谁说话”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1841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3500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对立标签固化，形成“男生/女生”、“事业/家庭”的对照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1651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12121" r="12121" b="24242"/>
          <a:stretch>
            <a:fillRect/>
          </a:stretch>
        </p:blipFill>
        <p:spPr>
          <a:xfrm>
            <a:off x="9810750" y="1841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080500" y="26035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80500" y="3048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校园特定的叙事，激活了深层的身份想象与认同焦虑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F4F4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学校试</a:t>
            </a:r>
            <a:r>
              <a:rPr lang="zh-CN" alt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图展现“新潮”的视频风格</a:t>
            </a:r>
            <a:r>
              <a:rPr lang="en-US" sz="16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，却因刻板的分工表述，在学生群体中引发了关于“刻板印象”的身份冲突。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一些</a:t>
            </a:r>
            <a:r>
              <a:rPr lang="en-US" sz="36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启发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651000"/>
            <a:ext cx="2032000" cy="2032000"/>
          </a:xfrm>
          <a:prstGeom prst="roundRect">
            <a:avLst>
              <a:gd name="adj" fmla="val 125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2F4F4F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733800" y="1600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校园内容</a:t>
            </a:r>
            <a:r>
              <a:rPr lang="zh-CN" alt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也</a:t>
            </a: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是文化生产，不是简单的信息发布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733800" y="2108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平台会</a:t>
            </a:r>
            <a:r>
              <a:rPr lang="zh-CN" alt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影响</a:t>
            </a: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文化内容的意义，传播</a:t>
            </a:r>
            <a:r>
              <a:rPr lang="zh-CN" alt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很大程度上影响</a:t>
            </a: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内容的生命力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733800" y="2616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叙事</a:t>
            </a:r>
            <a:r>
              <a:rPr lang="zh-CN" alt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Arial" panose="020B0604020202020204" pitchFamily="34" charset="0"/>
                <a:sym typeface="Noto Sans SC"/>
              </a:rPr>
              <a:t>往往</a:t>
            </a: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带有价值倾向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02000" y="317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733800" y="3124200"/>
            <a:ext cx="762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“代表学校”的内容必须考虑传播后果，需要谨慎维护</a:t>
            </a:r>
            <a:r>
              <a:rPr lang="zh-CN" alt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公共形象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02000" y="3810000"/>
            <a:ext cx="8128000" cy="1524000"/>
          </a:xfrm>
          <a:prstGeom prst="roundRect">
            <a:avLst>
              <a:gd name="adj" fmla="val 8333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56000" y="406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89400" y="4038600"/>
            <a:ext cx="698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编码-解码理论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572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学校编码的正面叙事，学生可能解码出完全不同的刻板印象。</a:t>
            </a:r>
            <a:br>
              <a:rPr lang="en-US" sz="1600">
                <a:solidFill>
                  <a:srgbClr val="FFFFFF">
                    <a:alpha val="90196"/>
                  </a:srgbClr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</a:br>
            <a:br>
              <a:rPr lang="en-US" sz="1600">
                <a:solidFill>
                  <a:srgbClr val="FFFFFF">
                    <a:alpha val="90196"/>
                  </a:srgbClr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</a:br>
            <a:r>
              <a:rPr lang="zh-CN" altLang="en-US" sz="1600">
                <a:solidFill>
                  <a:srgbClr val="FFFFFF">
                    <a:alpha val="90196"/>
                  </a:srgbClr>
                </a:solidFill>
                <a:latin typeface="Noto Sans SC" charset="0"/>
                <a:ea typeface="Noto Sans SC" charset="0"/>
                <a:cs typeface="Noto Sans SC" charset="0"/>
                <a:sym typeface="Noto Sans SC"/>
              </a:rPr>
              <a:t>“文化工作者一定要有文化！”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461000" y="381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952500"/>
            <a:ext cx="508000" cy="50800"/>
          </a:xfrm>
          <a:prstGeom prst="roundRect">
            <a:avLst>
              <a:gd name="adj" fmla="val 0"/>
            </a:avLst>
          </a:prstGeom>
          <a:solidFill>
            <a:srgbClr val="2F4F4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270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1511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524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不是</a:t>
            </a: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“台词的小翻车”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527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2540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校庆叙事 → 刻板印象触发 → 平台扩散 → 校园舆情”</a:t>
            </a:r>
            <a:endParaRPr lang="en-US" sz="1100" b="1"/>
          </a:p>
        </p:txBody>
      </p:sp>
      <p:sp>
        <p:nvSpPr>
          <p:cNvPr id="12" name="AutoShape 12"/>
          <p:cNvSpPr/>
          <p:nvPr/>
        </p:nvSpPr>
        <p:spPr>
          <a:xfrm>
            <a:off x="1016000" y="3302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3543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556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启示：校园传播</a:t>
            </a:r>
            <a:r>
              <a:rPr lang="zh-CN" alt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需要</a:t>
            </a: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细致的表达设计</a:t>
            </a:r>
            <a:r>
              <a:rPr lang="zh-CN" alt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、谨慎的避免争议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F4F4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2F4F4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5593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572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应当非常非常仔细的考虑</a:t>
            </a: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一个内容说出来后</a:t>
            </a:r>
            <a:r>
              <a:rPr lang="en-US" sz="1800" b="1" i="0" u="none" strike="noStrike">
                <a:solidFill>
                  <a:srgbClr val="36454F"/>
                </a:solidFill>
                <a:latin typeface="Noto Sans SC"/>
                <a:ea typeface="Noto Sans SC"/>
                <a:cs typeface="Noto Sans SC"/>
                <a:sym typeface="Noto Sans SC"/>
              </a:rPr>
              <a:t>说出来会被如何理解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F4F4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1260</Words>
  <Application>WPS Office WWO_wpscloud_20260318230310-fb57003c44</Application>
  <PresentationFormat/>
  <Paragraphs>145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宋体</vt:lpstr>
      <vt:lpstr>汉仪书宋二KW</vt:lpstr>
      <vt:lpstr>Kingsoft Confetti</vt:lpstr>
      <vt:lpstr>Noto Sans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2026-03-31T15:49:48Z</dcterms:created>
  <dcterms:modified xsi:type="dcterms:W3CDTF">2026-03-31T15:49:48Z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0AE8DF191CDBC6F4B7DECB691168DE1F_42</vt:lpwstr>
  </property>
  <property fmtid="{D5CDD505-2E9C-101B-9397-08002B2CF9AE}" pid="3" name="KSOProductBuildVer">
    <vt:lpwstr>2052-12.9.0.25853</vt:lpwstr>
  </property>
</Properties>
</file>