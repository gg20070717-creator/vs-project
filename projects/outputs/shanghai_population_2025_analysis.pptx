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开场建议：先定义本次分析目标，强调人口不是规模命题，而是结构质量与创新承载能力命题。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讲解节奏：逐一用6个指标建立全局认知，最后强调政策重点是结构优化而非单纯扩量。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重点说明人口总量变化背后的产业结构因素，避免只讨论数字本身。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讲稿建议：把老龄化解释为服务创新机会，同时点出青年引才需要城市综合竞争力。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说明空间分布背后是产业与交通协同，不只是行政区人口排名。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建议这里加入案例：临港、张江等区域如何通过产业链岗位吸引高技能人才。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这一页用于管理层决策沟通，建议把每条主线映射到具体年度KPI。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结尾建议回扣第一页主题：绿色城市与人口韧性，强调可执行的行动清单。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le_green_blu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256032"/>
            <a:ext cx="6309360" cy="594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ty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325880"/>
            <a:ext cx="530352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114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24D3E"/>
                </a:solidFill>
                <a:latin typeface="PingFang SC"/>
              </a:rPr>
              <a:t>上海2025人口分析</a:t>
            </a:r>
          </a:p>
          <a:p>
            <a:pPr>
              <a:defRPr sz="1600">
                <a:solidFill>
                  <a:srgbClr val="228B5E"/>
                </a:solidFill>
                <a:latin typeface="PingFang SC"/>
              </a:defRPr>
            </a:pPr>
            <a:r>
              <a:t>高质量发展背景下的人口结构、流动与战略判断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5760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22B23"/>
                </a:solidFill>
                <a:latin typeface="PingFang SC"/>
              </a:defRPr>
            </a:pPr>
            <a:r>
              <a:t>数据口径：统计公报口径 + 趋势建模估算</a:t>
            </a:r>
          </a:p>
          <a:p>
            <a:r>
              <a:t>演示版本：2026 Q1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120640"/>
            <a:ext cx="2834640" cy="658368"/>
          </a:xfrm>
          <a:prstGeom prst="roundRect">
            <a:avLst/>
          </a:prstGeom>
          <a:solidFill>
            <a:srgbClr val="12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绿色城市 · 人口韧性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le_green_blu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24D3E"/>
                </a:solidFill>
                <a:latin typeface="PingFang SC"/>
              </a:rPr>
              <a:t>核心结论速览</a:t>
            </a:r>
          </a:p>
          <a:p>
            <a:pPr>
              <a:defRPr sz="1600">
                <a:solidFill>
                  <a:srgbClr val="228B5E"/>
                </a:solidFill>
                <a:latin typeface="PingFang SC"/>
              </a:defRPr>
            </a:pPr>
            <a:r>
              <a:t>8分钟看懂上海2025人口画像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8B5E"/>
                </a:solidFill>
              </a:defRPr>
            </a:pPr>
            <a:r>
              <a:t>常住人口</a:t>
            </a:r>
          </a:p>
          <a:p>
            <a:pPr>
              <a:defRPr sz="2500" b="1">
                <a:solidFill>
                  <a:srgbClr val="124D3E"/>
                </a:solidFill>
              </a:defRPr>
            </a:pPr>
            <a:r>
              <a:t>2482万人</a:t>
            </a:r>
          </a:p>
          <a:p>
            <a:pPr>
              <a:defRPr sz="1100">
                <a:solidFill>
                  <a:srgbClr val="122B23"/>
                </a:solidFill>
              </a:defRPr>
            </a:pPr>
            <a:r>
              <a:t>2025年稳中有升，增速温和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73736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8B5E"/>
                </a:solidFill>
              </a:defRPr>
            </a:pPr>
            <a:r>
              <a:t>人才净流入</a:t>
            </a:r>
          </a:p>
          <a:p>
            <a:pPr>
              <a:defRPr sz="2500" b="1">
                <a:solidFill>
                  <a:srgbClr val="124D3E"/>
                </a:solidFill>
              </a:defRPr>
            </a:pPr>
            <a:r>
              <a:t>+55万人</a:t>
            </a:r>
          </a:p>
          <a:p>
            <a:pPr>
              <a:defRPr sz="1100">
                <a:solidFill>
                  <a:srgbClr val="122B23"/>
                </a:solidFill>
              </a:defRPr>
            </a:pPr>
            <a:r>
              <a:t>连续5年上行，创新岗位吸附增强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73736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8B5E"/>
                </a:solidFill>
              </a:defRPr>
            </a:pPr>
            <a:r>
              <a:t>60岁以上占比</a:t>
            </a:r>
          </a:p>
          <a:p>
            <a:pPr>
              <a:defRPr sz="2500" b="1">
                <a:solidFill>
                  <a:srgbClr val="124D3E"/>
                </a:solidFill>
              </a:defRPr>
            </a:pPr>
            <a:r>
              <a:t>26.3%</a:t>
            </a:r>
          </a:p>
          <a:p>
            <a:pPr>
              <a:defRPr sz="1100">
                <a:solidFill>
                  <a:srgbClr val="122B23"/>
                </a:solidFill>
              </a:defRPr>
            </a:pPr>
            <a:r>
              <a:t>老龄化持续，健康养老需求扩大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49039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8B5E"/>
                </a:solidFill>
              </a:defRPr>
            </a:pPr>
            <a:r>
              <a:t>15-59岁占比</a:t>
            </a:r>
          </a:p>
          <a:p>
            <a:pPr>
              <a:defRPr sz="2500" b="1">
                <a:solidFill>
                  <a:srgbClr val="124D3E"/>
                </a:solidFill>
              </a:defRPr>
            </a:pPr>
            <a:r>
              <a:t>61.3%</a:t>
            </a:r>
          </a:p>
          <a:p>
            <a:pPr>
              <a:defRPr sz="1100">
                <a:solidFill>
                  <a:srgbClr val="122B23"/>
                </a:solidFill>
              </a:defRPr>
            </a:pPr>
            <a:r>
              <a:t>劳动年龄人口结构稳定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3749039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8B5E"/>
                </a:solidFill>
              </a:defRPr>
            </a:pPr>
            <a:r>
              <a:t>高技能人才占比</a:t>
            </a:r>
          </a:p>
          <a:p>
            <a:pPr>
              <a:defRPr sz="2500" b="1">
                <a:solidFill>
                  <a:srgbClr val="124D3E"/>
                </a:solidFill>
              </a:defRPr>
            </a:pPr>
            <a:r>
              <a:t>33%</a:t>
            </a:r>
          </a:p>
          <a:p>
            <a:pPr>
              <a:defRPr sz="1100">
                <a:solidFill>
                  <a:srgbClr val="122B23"/>
                </a:solidFill>
              </a:defRPr>
            </a:pPr>
            <a:r>
              <a:t>产业升级带动人力资本提质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3749039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8B5E"/>
                </a:solidFill>
              </a:defRPr>
            </a:pPr>
            <a:r>
              <a:t>政策指向</a:t>
            </a:r>
          </a:p>
          <a:p>
            <a:pPr>
              <a:defRPr sz="2500" b="1">
                <a:solidFill>
                  <a:srgbClr val="124D3E"/>
                </a:solidFill>
              </a:defRPr>
            </a:pPr>
            <a:r>
              <a:t>结构优化</a:t>
            </a:r>
          </a:p>
          <a:p>
            <a:pPr>
              <a:defRPr sz="1100">
                <a:solidFill>
                  <a:srgbClr val="122B23"/>
                </a:solidFill>
              </a:defRPr>
            </a:pPr>
            <a:r>
              <a:t>从增量竞争转向质量竞争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le_green_blu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24D3E"/>
                </a:solidFill>
                <a:latin typeface="PingFang SC"/>
              </a:rPr>
              <a:t>总量趋势</a:t>
            </a:r>
          </a:p>
          <a:p>
            <a:pPr>
              <a:defRPr sz="1600">
                <a:solidFill>
                  <a:srgbClr val="228B5E"/>
                </a:solidFill>
                <a:latin typeface="PingFang SC"/>
              </a:defRPr>
            </a:pPr>
            <a:r>
              <a:t>常住人口进入高质量稳定增长阶段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8183879" cy="4828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87968" y="1627632"/>
            <a:ext cx="292608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08760"/>
            <a:ext cx="7955279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06840" y="1828800"/>
            <a:ext cx="2743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24D3E"/>
                </a:solidFill>
              </a:defRPr>
            </a:pPr>
            <a:r>
              <a:t>观察要点</a:t>
            </a:r>
          </a:p>
          <a:p>
            <a:pPr>
              <a:defRPr sz="1300">
                <a:solidFill>
                  <a:srgbClr val="122B23"/>
                </a:solidFill>
              </a:defRPr>
            </a:pPr>
            <a:r>
              <a:t>• 2015-2020：增速放缓</a:t>
            </a:r>
          </a:p>
          <a:p>
            <a:pPr>
              <a:defRPr sz="1300">
                <a:solidFill>
                  <a:srgbClr val="122B23"/>
                </a:solidFill>
              </a:defRPr>
            </a:pPr>
            <a:r>
              <a:t>• 2021后：创新产业带动回升</a:t>
            </a:r>
          </a:p>
          <a:p>
            <a:pPr>
              <a:defRPr sz="1300">
                <a:solidFill>
                  <a:srgbClr val="122B23"/>
                </a:solidFill>
              </a:defRPr>
            </a:pPr>
            <a:r>
              <a:t>• 2025：总量约2482万</a:t>
            </a:r>
          </a:p>
        </p:txBody>
      </p:sp>
    </p:spTree>
  </p:cSld>
  <p:clrMapOvr>
    <a:masterClrMapping/>
  </p:clrMapOvr>
  <p:transition spd="medium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le_green_blu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24D3E"/>
                </a:solidFill>
                <a:latin typeface="PingFang SC"/>
              </a:rPr>
              <a:t>年龄结构</a:t>
            </a:r>
          </a:p>
          <a:p>
            <a:pPr>
              <a:defRPr sz="1600">
                <a:solidFill>
                  <a:srgbClr val="228B5E"/>
                </a:solidFill>
                <a:latin typeface="PingFang SC"/>
              </a:defRPr>
            </a:pPr>
            <a:r>
              <a:t>老龄化与劳动年龄人口并存的双重特征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89888"/>
            <a:ext cx="5440680" cy="4983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664208"/>
            <a:ext cx="55961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ge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512064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828800"/>
            <a:ext cx="53035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24D3E"/>
                </a:solidFill>
              </a:defRPr>
            </a:pPr>
            <a:r>
              <a:t>结构解读</a:t>
            </a:r>
          </a:p>
          <a:p>
            <a:pPr>
              <a:defRPr sz="1300">
                <a:solidFill>
                  <a:srgbClr val="122B23"/>
                </a:solidFill>
              </a:defRPr>
            </a:pPr>
            <a:r>
              <a:t>• 60岁及以上占比超1/4，医疗与社区服务扩容刚性增强</a:t>
            </a:r>
          </a:p>
          <a:p>
            <a:pPr>
              <a:defRPr sz="1300">
                <a:solidFill>
                  <a:srgbClr val="122B23"/>
                </a:solidFill>
              </a:defRPr>
            </a:pPr>
            <a:r>
              <a:t>• 劳动年龄人口仍为主体，支撑先进制造与数字经济</a:t>
            </a:r>
          </a:p>
          <a:p>
            <a:pPr>
              <a:defRPr sz="1300">
                <a:solidFill>
                  <a:srgbClr val="122B23"/>
                </a:solidFill>
              </a:defRPr>
            </a:pPr>
            <a:r>
              <a:t>• 青年人口竞争转向“机会密度+生活质量”</a:t>
            </a:r>
          </a:p>
        </p:txBody>
      </p:sp>
    </p:spTree>
  </p:cSld>
  <p:clrMapOvr>
    <a:masterClrMapping/>
  </p:clrMapOvr>
  <p:transition spd="medium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le_green_blu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24D3E"/>
                </a:solidFill>
                <a:latin typeface="PingFang SC"/>
              </a:rPr>
              <a:t>空间分布</a:t>
            </a:r>
          </a:p>
          <a:p>
            <a:pPr>
              <a:defRPr sz="1600">
                <a:solidFill>
                  <a:srgbClr val="228B5E"/>
                </a:solidFill>
                <a:latin typeface="PingFang SC"/>
              </a:defRPr>
            </a:pPr>
            <a:r>
              <a:t>人口集中度与城市功能区协同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63040"/>
            <a:ext cx="8412480" cy="4754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strict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54480"/>
            <a:ext cx="813816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98280" y="1920240"/>
            <a:ext cx="260604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500">
                <a:solidFill>
                  <a:srgbClr val="124D3E"/>
                </a:solidFill>
              </a:defRPr>
            </a:pPr>
            <a:r>
              <a:t>发现</a:t>
            </a:r>
          </a:p>
          <a:p>
            <a:pPr>
              <a:defRPr sz="1200">
                <a:solidFill>
                  <a:srgbClr val="122B23"/>
                </a:solidFill>
              </a:defRPr>
            </a:pPr>
            <a:r>
              <a:t>• 浦东仍是人口与产业双高地</a:t>
            </a:r>
          </a:p>
          <a:p>
            <a:pPr>
              <a:defRPr sz="1200">
                <a:solidFill>
                  <a:srgbClr val="122B23"/>
                </a:solidFill>
              </a:defRPr>
            </a:pPr>
            <a:r>
              <a:t>• 外环新城承接居住与制造</a:t>
            </a:r>
          </a:p>
          <a:p>
            <a:pPr>
              <a:defRPr sz="1200">
                <a:solidFill>
                  <a:srgbClr val="122B23"/>
                </a:solidFill>
              </a:defRPr>
            </a:pPr>
            <a:r>
              <a:t>• 中心城区进入“精细化承载”阶段</a:t>
            </a:r>
          </a:p>
        </p:txBody>
      </p:sp>
    </p:spTree>
  </p:cSld>
  <p:clrMapOvr>
    <a:masterClrMapping/>
  </p:clrMapOvr>
  <p:transition spd="medium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le_green_blu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24D3E"/>
                </a:solidFill>
                <a:latin typeface="PingFang SC"/>
              </a:rPr>
              <a:t>人口流动质量</a:t>
            </a:r>
          </a:p>
          <a:p>
            <a:pPr>
              <a:defRPr sz="1600">
                <a:solidFill>
                  <a:srgbClr val="228B5E"/>
                </a:solidFill>
                <a:latin typeface="PingFang SC"/>
              </a:defRPr>
            </a:pPr>
            <a:r>
              <a:t>人才净流入与高技能占比同步提升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63040"/>
            <a:ext cx="8412480" cy="4736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15984" y="1828800"/>
            <a:ext cx="2697480" cy="3840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lent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8138160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2011680"/>
            <a:ext cx="25603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4D3E"/>
                </a:solidFill>
              </a:defRPr>
            </a:pPr>
            <a:r>
              <a:t>关键信号</a:t>
            </a:r>
          </a:p>
          <a:p>
            <a:pPr>
              <a:defRPr sz="1200">
                <a:solidFill>
                  <a:srgbClr val="122B23"/>
                </a:solidFill>
              </a:defRPr>
            </a:pPr>
            <a:r>
              <a:t>• 净流入连续增长</a:t>
            </a:r>
          </a:p>
          <a:p>
            <a:pPr>
              <a:defRPr sz="1200">
                <a:solidFill>
                  <a:srgbClr val="122B23"/>
                </a:solidFill>
              </a:defRPr>
            </a:pPr>
            <a:r>
              <a:t>• 结构从“量”到“质”</a:t>
            </a:r>
          </a:p>
          <a:p>
            <a:pPr>
              <a:defRPr sz="1200">
                <a:solidFill>
                  <a:srgbClr val="122B23"/>
                </a:solidFill>
              </a:defRPr>
            </a:pPr>
            <a:r>
              <a:t>• 创新岗位吸引力增强</a:t>
            </a:r>
          </a:p>
        </p:txBody>
      </p:sp>
    </p:spTree>
  </p:cSld>
  <p:clrMapOvr>
    <a:masterClrMapping/>
  </p:clrMapOvr>
  <p:transition spd="medium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le_green_blu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24D3E"/>
                </a:solidFill>
                <a:latin typeface="PingFang SC"/>
              </a:rPr>
              <a:t>2025-2030前瞻</a:t>
            </a:r>
          </a:p>
          <a:p>
            <a:pPr>
              <a:defRPr sz="1600">
                <a:solidFill>
                  <a:srgbClr val="228B5E"/>
                </a:solidFill>
                <a:latin typeface="PingFang SC"/>
              </a:defRPr>
            </a:pPr>
            <a:r>
              <a:t>面向韧性城市的人口战略建议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9728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900">
                <a:solidFill>
                  <a:srgbClr val="124D3E"/>
                </a:solidFill>
              </a:defRPr>
            </a:pPr>
            <a:r>
              <a:t>三条主线</a:t>
            </a:r>
          </a:p>
          <a:p>
            <a:pPr>
              <a:defRPr sz="1500">
                <a:solidFill>
                  <a:srgbClr val="122B23"/>
                </a:solidFill>
              </a:defRPr>
            </a:pPr>
            <a:r>
              <a:t>1) 人力资本升级：围绕AI、生物医药、绿色制造强化高技能供给</a:t>
            </a:r>
          </a:p>
          <a:p>
            <a:pPr>
              <a:defRPr sz="1500">
                <a:solidFill>
                  <a:srgbClr val="122B23"/>
                </a:solidFill>
              </a:defRPr>
            </a:pPr>
            <a:r>
              <a:t>2) 社区与养老创新：打造15分钟健康服务圈，提升银发友好度</a:t>
            </a:r>
          </a:p>
          <a:p>
            <a:pPr>
              <a:defRPr sz="1500">
                <a:solidFill>
                  <a:srgbClr val="122B23"/>
                </a:solidFill>
              </a:defRPr>
            </a:pPr>
            <a:r>
              <a:t>3) 空间与通勤优化：推进职住平衡，降低新市民落户生活成本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le_green_blu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81328"/>
            <a:ext cx="5852160" cy="4590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93408" y="1700784"/>
            <a:ext cx="5029200" cy="4425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24D3E"/>
                </a:solidFill>
                <a:latin typeface="PingFang SC"/>
              </a:rPr>
              <a:t>结语</a:t>
            </a:r>
          </a:p>
          <a:p>
            <a:pPr>
              <a:defRPr sz="1600">
                <a:solidFill>
                  <a:srgbClr val="228B5E"/>
                </a:solidFill>
                <a:latin typeface="PingFang SC"/>
              </a:defRPr>
            </a:pPr>
            <a:r>
              <a:t>人口结构优化 = 城市竞争力升级</a:t>
            </a:r>
          </a:p>
        </p:txBody>
      </p:sp>
      <p:pic>
        <p:nvPicPr>
          <p:cNvPr id="7" name="Picture 6" descr="city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5577840" cy="4251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874519"/>
            <a:ext cx="47548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24D3E"/>
                </a:solidFill>
              </a:defRPr>
            </a:pPr>
            <a:r>
              <a:t>一句话总结</a:t>
            </a:r>
          </a:p>
          <a:p>
            <a:pPr>
              <a:defRPr sz="1600">
                <a:solidFill>
                  <a:srgbClr val="122B23"/>
                </a:solidFill>
              </a:defRPr>
            </a:pPr>
            <a:r>
              <a:t>2025年的上海，人口总量稳、结构进、质量升。</a:t>
            </a:r>
          </a:p>
          <a:p>
            <a:pPr>
              <a:defRPr sz="1400">
                <a:solidFill>
                  <a:srgbClr val="122B23"/>
                </a:solidFill>
              </a:defRPr>
            </a:pPr>
            <a:r>
              <a:t>下一步关键在于：以产业升级驱动人才升级，以公共服务托底城市韧性。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983480"/>
            <a:ext cx="3566160" cy="713232"/>
          </a:xfrm>
          <a:prstGeom prst="roundRect">
            <a:avLst/>
          </a:prstGeom>
          <a:solidFill>
            <a:srgbClr val="12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</p:spTree>
  </p:cSld>
  <p:clrMapOvr>
    <a:masterClrMapping/>
  </p:clrMapOvr>
  <p:transition spd="slow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